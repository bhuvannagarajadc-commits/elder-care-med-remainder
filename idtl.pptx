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 marL="0" marR="0" lvl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</a:defRPr>
    </a:defPPr>
    <a:lvl1pPr marL="0" marR="0" lvl="0" indent="0" algn="ctr" defTabSz="91440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Times New Roman"/>
        <a:ea typeface="Times New Roman"/>
        <a:cs typeface="Times New Roman"/>
        <a:sym typeface="Times New Roman"/>
      </a:defRPr>
    </a:lvl1pPr>
    <a:lvl2pPr marL="0" marR="0" lvl="1" indent="457200" algn="ctr" defTabSz="91440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Times New Roman"/>
        <a:ea typeface="Times New Roman"/>
        <a:cs typeface="Times New Roman"/>
        <a:sym typeface="Times New Roman"/>
      </a:defRPr>
    </a:lvl2pPr>
    <a:lvl3pPr marL="0" marR="0" lvl="2" indent="914400" algn="ctr" defTabSz="91440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Times New Roman"/>
        <a:ea typeface="Times New Roman"/>
        <a:cs typeface="Times New Roman"/>
        <a:sym typeface="Times New Roman"/>
      </a:defRPr>
    </a:lvl3pPr>
    <a:lvl4pPr marL="0" marR="0" lvl="3" indent="1371600" algn="ctr" defTabSz="91440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Times New Roman"/>
        <a:ea typeface="Times New Roman"/>
        <a:cs typeface="Times New Roman"/>
        <a:sym typeface="Times New Roman"/>
      </a:defRPr>
    </a:lvl4pPr>
    <a:lvl5pPr marL="0" marR="0" lvl="4" indent="1828800" algn="ctr" defTabSz="91440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Times New Roman"/>
        <a:ea typeface="Times New Roman"/>
        <a:cs typeface="Times New Roman"/>
        <a:sym typeface="Times New Roman"/>
      </a:defRPr>
    </a:lvl5pPr>
    <a:lvl6pPr marL="0" marR="0" lvl="5" indent="2286000" algn="ctr" defTabSz="91440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Times New Roman"/>
        <a:ea typeface="Times New Roman"/>
        <a:cs typeface="Times New Roman"/>
        <a:sym typeface="Times New Roman"/>
      </a:defRPr>
    </a:lvl6pPr>
    <a:lvl7pPr marL="0" marR="0" lvl="6" indent="2743200" algn="ctr" defTabSz="91440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Times New Roman"/>
        <a:ea typeface="Times New Roman"/>
        <a:cs typeface="Times New Roman"/>
        <a:sym typeface="Times New Roman"/>
      </a:defRPr>
    </a:lvl7pPr>
    <a:lvl8pPr marL="0" marR="0" lvl="7" indent="3200400" algn="ctr" defTabSz="91440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Times New Roman"/>
        <a:ea typeface="Times New Roman"/>
        <a:cs typeface="Times New Roman"/>
        <a:sym typeface="Times New Roman"/>
      </a:defRPr>
    </a:lvl8pPr>
    <a:lvl9pPr marL="0" marR="0" lvl="8" indent="3657600" algn="ctr" defTabSz="914400" rtl="0" fontAlgn="auto" latinLnBrk="0" hangingPunct="0">
      <a:lnSpc>
        <a:spcPct val="15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>
        <a:ln>
          <a:noFill/>
        </a:ln>
        <a:solidFill>
          <a:srgbClr val="000000"/>
        </a:solidFill>
        <a:effectLst/>
        <a:latin typeface="Times New Roman"/>
        <a:ea typeface="Times New Roman"/>
        <a:cs typeface="Times New Roman"/>
        <a:sym typeface="Times New Roman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4C3C2611-4C71-4FC5-86AE-919BDF0F9419}" styleName="">
    <a:tblBg/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rgbClr val="D1D1D1"/>
          </a:solidFill>
        </a:fill>
      </a:tcStyle>
    </a:wholeTbl>
    <a:band2H>
      <a:tcTxStyle/>
      <a:tcStyle>
        <a:tcBdr/>
        <a:fill>
          <a:solidFill>
            <a:srgbClr val="E9E9E9"/>
          </a:solidFill>
        </a:fill>
      </a:tcStyle>
    </a:band2H>
    <a:firstCol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Arial"/>
          <a:ea typeface="Arial"/>
          <a:cs typeface="Arial"/>
        </a:font>
        <a:schemeClr val="accent3">
          <a:lumOff val="44000"/>
        </a:schemeClr>
      </a:tcTxStyle>
      <a:tcStyle>
        <a:tcBdr>
          <a:lef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left>
          <a:right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right>
          <a:top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top>
          <a:bottom>
            <a:ln w="381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bottom>
          <a:insideH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H>
          <a:insideV>
            <a:ln w="1270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Shape 10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5" name="Shape 10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" name="Title Text"/>
          <p:cNvSpPr txBox="1">
            <a:spLocks noGrp="1"/>
          </p:cNvSpPr>
          <p:nvPr>
            <p:ph type="title"/>
          </p:nvPr>
        </p:nvSpPr>
        <p:spPr>
          <a:xfrm>
            <a:off x="2063750" y="1701800"/>
            <a:ext cx="9211735" cy="1082675"/>
          </a:xfrm>
          <a:prstGeom prst="rect">
            <a:avLst/>
          </a:prstGeom>
        </p:spPr>
        <p:txBody>
          <a:bodyPr/>
          <a:lstStyle>
            <a:lvl1pPr algn="r"/>
          </a:lstStyle>
          <a:p>
            <a:r>
              <a:t>Title Text</a:t>
            </a:r>
          </a:p>
        </p:txBody>
      </p:sp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2063750" y="2927350"/>
            <a:ext cx="9218085" cy="1752600"/>
          </a:xfrm>
          <a:prstGeom prst="rect">
            <a:avLst/>
          </a:prstGeom>
        </p:spPr>
        <p:txBody>
          <a:bodyPr/>
          <a:lstStyle>
            <a:lvl1pPr marL="0" indent="0" algn="r">
              <a:buSzTx/>
              <a:buNone/>
            </a:lvl1pPr>
            <a:lvl2pPr algn="r"/>
            <a:lvl3pPr algn="r"/>
            <a:lvl4pPr algn="r"/>
            <a:lvl5pPr algn="r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1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1" cy="15001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500"/>
              </a:spcBef>
              <a:buSzTx/>
              <a:buNone/>
              <a:defRPr sz="2400"/>
            </a:lvl1pPr>
            <a:lvl2pPr marL="0" indent="457200">
              <a:spcBef>
                <a:spcPts val="500"/>
              </a:spcBef>
              <a:buSzTx/>
              <a:buNone/>
              <a:defRPr sz="2400"/>
            </a:lvl2pPr>
            <a:lvl3pPr marL="0" indent="914400">
              <a:spcBef>
                <a:spcPts val="500"/>
              </a:spcBef>
              <a:buSzTx/>
              <a:buNone/>
              <a:defRPr sz="2400"/>
            </a:lvl3pPr>
            <a:lvl4pPr marL="0" indent="1371600">
              <a:spcBef>
                <a:spcPts val="500"/>
              </a:spcBef>
              <a:buSzTx/>
              <a:buNone/>
              <a:defRPr sz="2400"/>
            </a:lvl4pPr>
            <a:lvl5pPr marL="0" indent="1828800">
              <a:spcBef>
                <a:spcPts val="50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41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609600" y="1174750"/>
            <a:ext cx="5384800" cy="4953000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Text"/>
          <p:cNvSpPr txBox="1">
            <a:spLocks noGrp="1"/>
          </p:cNvSpPr>
          <p:nvPr>
            <p:ph type="title"/>
          </p:nvPr>
        </p:nvSpPr>
        <p:spPr>
          <a:xfrm>
            <a:off x="84031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40317" y="1681163"/>
            <a:ext cx="5158317" cy="82391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None/>
              <a:defRPr sz="2400" b="1"/>
            </a:lvl1pPr>
            <a:lvl2pPr marL="0" indent="457200">
              <a:spcBef>
                <a:spcPts val="500"/>
              </a:spcBef>
              <a:buSzTx/>
              <a:buNone/>
              <a:defRPr sz="2400" b="1"/>
            </a:lvl2pPr>
            <a:lvl3pPr marL="0" indent="914400">
              <a:spcBef>
                <a:spcPts val="500"/>
              </a:spcBef>
              <a:buSzTx/>
              <a:buNone/>
              <a:defRPr sz="2400" b="1"/>
            </a:lvl3pPr>
            <a:lvl4pPr marL="0" indent="1371600">
              <a:spcBef>
                <a:spcPts val="500"/>
              </a:spcBef>
              <a:buSzTx/>
              <a:buNone/>
              <a:defRPr sz="2400" b="1"/>
            </a:lvl4pPr>
            <a:lvl5pPr marL="0" indent="1828800">
              <a:spcBef>
                <a:spcPts val="500"/>
              </a:spcBef>
              <a:buSz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2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681163"/>
            <a:ext cx="5183717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None/>
              <a:defRPr sz="2400" b="1"/>
            </a:pPr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7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3716" y="987425"/>
            <a:ext cx="6172201" cy="4873625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40317" y="2057400"/>
            <a:ext cx="3932767" cy="3811588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None/>
              <a:defRPr sz="1600"/>
            </a:pPr>
            <a:endParaRPr/>
          </a:p>
        </p:txBody>
      </p:sp>
      <p:sp>
        <p:nvSpPr>
          <p:cNvPr id="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3" descr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Title Text"/>
          <p:cNvSpPr txBox="1"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7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716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40317" y="2057400"/>
            <a:ext cx="3932767" cy="3811588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None/>
              <a:defRPr sz="1600"/>
            </a:lvl1pPr>
            <a:lvl2pPr marL="0" indent="457200">
              <a:spcBef>
                <a:spcPts val="300"/>
              </a:spcBef>
              <a:buSzTx/>
              <a:buNone/>
              <a:defRPr sz="1600"/>
            </a:lvl2pPr>
            <a:lvl3pPr marL="0" indent="914400">
              <a:spcBef>
                <a:spcPts val="300"/>
              </a:spcBef>
              <a:buSzTx/>
              <a:buNone/>
              <a:defRPr sz="1600"/>
            </a:lvl3pPr>
            <a:lvl4pPr marL="0" indent="1371600">
              <a:spcBef>
                <a:spcPts val="300"/>
              </a:spcBef>
              <a:buSzTx/>
              <a:buNone/>
              <a:defRPr sz="1600"/>
            </a:lvl4pPr>
            <a:lvl5pPr marL="0" indent="1828800">
              <a:spcBef>
                <a:spcPts val="300"/>
              </a:spcBef>
              <a:buSz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Off val="4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280492" y="6245225"/>
            <a:ext cx="301909" cy="288824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>
            <a:spAutoFit/>
          </a:bodyPr>
          <a:lstStyle>
            <a:lvl1pPr algn="r">
              <a:lnSpc>
                <a:spcPct val="100000"/>
              </a:lnSpc>
              <a:defRPr sz="1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0" marR="0" indent="4572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0" marR="0" indent="9144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0" marR="0" indent="13716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0" marR="0" indent="182880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5pPr>
      <a:lvl6pPr marL="26924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6pPr>
      <a:lvl7pPr marL="31496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7pPr>
      <a:lvl8pPr marL="36068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8pPr>
      <a:lvl9pPr marL="4064000" marR="0" indent="-4064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Arial"/>
          <a:ea typeface="Arial"/>
          <a:cs typeface="Arial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2055;p1"/>
          <p:cNvSpPr txBox="1"/>
          <p:nvPr/>
        </p:nvSpPr>
        <p:spPr>
          <a:xfrm>
            <a:off x="-340178" y="680355"/>
            <a:ext cx="12367278" cy="85608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34275" tIns="34275" rIns="34275" bIns="34275" anchor="b">
            <a:spAutoFit/>
          </a:bodyPr>
          <a:lstStyle/>
          <a:p>
            <a:pPr>
              <a:defRPr sz="2000" b="1"/>
            </a:pPr>
            <a:r>
              <a:t>JSS ACADEMY OF TECHNICAL EDUCATION,BENGALURU-560060</a:t>
            </a:r>
          </a:p>
          <a:p>
            <a:pPr>
              <a:defRPr sz="2000"/>
            </a:pPr>
            <a:r>
              <a:t>(Affiliated to VTU,BELGAVI)</a:t>
            </a:r>
          </a:p>
          <a:p>
            <a:r>
              <a:t>Innovation and Design Thinking project on</a:t>
            </a:r>
          </a:p>
          <a:p>
            <a:pPr>
              <a:defRPr sz="3500" b="1" u="sng">
                <a:solidFill>
                  <a:srgbClr val="FF2600"/>
                </a:solidFill>
              </a:defRPr>
            </a:pPr>
            <a:r>
              <a:t>Fake News Identification</a:t>
            </a:r>
          </a:p>
          <a:p>
            <a:pPr>
              <a:defRPr sz="2000"/>
            </a:pPr>
            <a:r>
              <a:t>Under the guidance of</a:t>
            </a:r>
          </a:p>
          <a:p>
            <a:pPr>
              <a:defRPr sz="1900" b="1"/>
            </a:pPr>
            <a:r>
              <a:rPr sz="2200"/>
              <a:t>Ms. BHAVANI B H </a:t>
            </a:r>
            <a:r>
              <a:t>           </a:t>
            </a:r>
          </a:p>
          <a:p>
            <a:pPr lvl="1">
              <a:defRPr sz="1900" b="1"/>
            </a:pPr>
            <a:endParaRPr/>
          </a:p>
          <a:p>
            <a:pPr>
              <a:defRPr sz="1900" b="1"/>
            </a:pPr>
            <a:endParaRPr/>
          </a:p>
          <a:p>
            <a:pPr>
              <a:defRPr sz="1900" b="1"/>
            </a:pPr>
            <a:r>
              <a:t>                                                                                                                                          </a:t>
            </a:r>
            <a:r>
              <a:rPr sz="1800" b="0"/>
              <a:t>Carried out by</a:t>
            </a:r>
          </a:p>
          <a:p>
            <a:pPr>
              <a:defRPr sz="1900" b="1"/>
            </a:pPr>
            <a:r>
              <a:rPr sz="1800" b="0"/>
              <a:t>                                                                                                                                            ADASHA</a:t>
            </a:r>
          </a:p>
          <a:p>
            <a:pPr>
              <a:defRPr sz="1900" b="1"/>
            </a:pPr>
            <a:r>
              <a:rPr sz="1800" b="0"/>
              <a:t>                                                                                                                                                           SANKET MISHRA</a:t>
            </a:r>
          </a:p>
          <a:p>
            <a:pPr>
              <a:defRPr sz="1900" b="1"/>
            </a:pPr>
            <a:r>
              <a:rPr sz="1800" b="0"/>
              <a:t>                                                                                                                                                 BHUVAN H J </a:t>
            </a:r>
          </a:p>
          <a:p>
            <a:pPr>
              <a:defRPr sz="1900" b="1"/>
            </a:pPr>
            <a:r>
              <a:rPr sz="1800" b="0"/>
              <a:t>                                                                                                                                                      SHIVANAND J S</a:t>
            </a:r>
          </a:p>
          <a:p>
            <a:pPr>
              <a:defRPr sz="1900" b="1"/>
            </a:pPr>
            <a:r>
              <a:rPr sz="1800" b="0"/>
              <a:t>                                                                                                                                                    CHANDAN V C</a:t>
            </a:r>
          </a:p>
          <a:p>
            <a:pPr>
              <a:defRPr sz="1900" b="1"/>
            </a:pPr>
            <a:endParaRPr sz="1800" b="0"/>
          </a:p>
          <a:p>
            <a:pPr>
              <a:defRPr sz="1900" b="1"/>
            </a:pPr>
            <a:endParaRPr sz="1800" b="0"/>
          </a:p>
          <a:p>
            <a:pPr>
              <a:defRPr sz="1900" b="1"/>
            </a:pPr>
            <a:endParaRPr sz="1800" b="0"/>
          </a:p>
          <a:p>
            <a:pPr>
              <a:defRPr sz="1900" b="1"/>
            </a:pPr>
            <a:endParaRPr sz="1800" b="0"/>
          </a:p>
          <a:p>
            <a:pPr>
              <a:defRPr sz="1900" b="1"/>
            </a:pPr>
            <a:endParaRPr sz="1800" b="0"/>
          </a:p>
          <a:p>
            <a:pPr>
              <a:defRPr sz="1900" b="1"/>
            </a:pPr>
            <a:r>
              <a:t>                                                                         </a:t>
            </a:r>
            <a:r>
              <a:rPr>
                <a:solidFill>
                  <a:schemeClr val="accent1">
                    <a:lumOff val="-7450"/>
                  </a:schemeClr>
                </a:solidFill>
              </a:rPr>
              <a:t>                                                </a:t>
            </a:r>
          </a:p>
        </p:txBody>
      </p:sp>
      <p:sp>
        <p:nvSpPr>
          <p:cNvPr id="108" name="Google Shape;2058;p1"/>
          <p:cNvSpPr txBox="1">
            <a:spLocks noGrp="1"/>
          </p:cNvSpPr>
          <p:nvPr>
            <p:ph type="sldNum" sz="quarter" idx="2"/>
          </p:nvPr>
        </p:nvSpPr>
        <p:spPr>
          <a:xfrm>
            <a:off x="11379516" y="6245225"/>
            <a:ext cx="202984" cy="28878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033369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C00000"/>
                </a:solidFill>
              </a:defRPr>
            </a:lvl1pPr>
          </a:lstStyle>
          <a:p>
            <a:r>
              <a:t>CONTENTS</a:t>
            </a:r>
          </a:p>
        </p:txBody>
      </p:sp>
      <p:sp>
        <p:nvSpPr>
          <p:cNvPr id="111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200" y="1398493"/>
            <a:ext cx="10515600" cy="4778471"/>
          </a:xfrm>
          <a:prstGeom prst="rect">
            <a:avLst/>
          </a:prstGeom>
        </p:spPr>
        <p:txBody>
          <a:bodyPr/>
          <a:lstStyle/>
          <a:p>
            <a:pPr marL="514350" indent="-514350">
              <a:spcBef>
                <a:spcPts val="600"/>
              </a:spcBef>
              <a:buAutoNum type="arabicPeriod"/>
              <a:defRPr sz="2800" b="1">
                <a:latin typeface="+mn-lt"/>
                <a:ea typeface="+mn-ea"/>
                <a:cs typeface="+mn-cs"/>
                <a:sym typeface="Calibri"/>
              </a:defRPr>
            </a:pPr>
            <a:r>
              <a:rPr dirty="0"/>
              <a:t>EMPATHISE</a:t>
            </a:r>
            <a:endParaRPr b="0" dirty="0"/>
          </a:p>
          <a:p>
            <a:pPr marL="514350" indent="-514350">
              <a:spcBef>
                <a:spcPts val="600"/>
              </a:spcBef>
              <a:buAutoNum type="arabicPeriod"/>
              <a:defRPr sz="2800" b="1">
                <a:latin typeface="+mn-lt"/>
                <a:ea typeface="+mn-ea"/>
                <a:cs typeface="+mn-cs"/>
                <a:sym typeface="Calibri"/>
              </a:defRPr>
            </a:pPr>
            <a:r>
              <a:rPr dirty="0"/>
              <a:t>DEFINE/ANALYSE</a:t>
            </a:r>
            <a:endParaRPr b="0" dirty="0"/>
          </a:p>
          <a:p>
            <a:pPr marL="514350" indent="-514350">
              <a:spcBef>
                <a:spcPts val="600"/>
              </a:spcBef>
              <a:buAutoNum type="arabicPeriod"/>
              <a:defRPr sz="2800" b="1">
                <a:latin typeface="+mn-lt"/>
                <a:ea typeface="+mn-ea"/>
                <a:cs typeface="+mn-cs"/>
                <a:sym typeface="Calibri"/>
              </a:defRPr>
            </a:pPr>
            <a:r>
              <a:rPr dirty="0"/>
              <a:t>IDEATE</a:t>
            </a:r>
            <a:endParaRPr b="0" dirty="0"/>
          </a:p>
          <a:p>
            <a:pPr marL="514350" indent="-514350">
              <a:spcBef>
                <a:spcPts val="600"/>
              </a:spcBef>
              <a:buAutoNum type="arabicPeriod"/>
              <a:defRPr sz="2800" b="1">
                <a:latin typeface="+mn-lt"/>
                <a:ea typeface="+mn-ea"/>
                <a:cs typeface="+mn-cs"/>
                <a:sym typeface="Calibri"/>
              </a:defRPr>
            </a:pPr>
            <a:r>
              <a:rPr dirty="0"/>
              <a:t>PROTOTYPING</a:t>
            </a:r>
            <a:endParaRPr b="0" dirty="0"/>
          </a:p>
          <a:p>
            <a:pPr marL="514350" indent="-514350">
              <a:spcBef>
                <a:spcPts val="600"/>
              </a:spcBef>
              <a:buAutoNum type="arabicPeriod"/>
              <a:defRPr sz="2800" b="1">
                <a:latin typeface="+mn-lt"/>
                <a:ea typeface="+mn-ea"/>
                <a:cs typeface="+mn-cs"/>
                <a:sym typeface="Calibri"/>
              </a:defRPr>
            </a:pPr>
            <a:r>
              <a:rPr dirty="0"/>
              <a:t>TESTING</a:t>
            </a:r>
            <a:endParaRPr b="0" dirty="0"/>
          </a:p>
        </p:txBody>
      </p:sp>
      <p:sp>
        <p:nvSpPr>
          <p:cNvPr id="112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379376" y="6245225"/>
            <a:ext cx="203025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 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656852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rgbClr val="C00000"/>
                </a:solidFill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EMPATHISE</a:t>
            </a:r>
          </a:p>
        </p:txBody>
      </p:sp>
      <p:sp>
        <p:nvSpPr>
          <p:cNvPr id="11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769619" y="939800"/>
            <a:ext cx="10584182" cy="5237480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600"/>
              </a:spcBef>
              <a:buSzTx/>
              <a:buNone/>
              <a:defRPr sz="2800" b="1">
                <a:solidFill>
                  <a:srgbClr val="C0000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Observation </a:t>
            </a:r>
          </a:p>
          <a:p>
            <a:pPr marL="0" indent="0">
              <a:spcBef>
                <a:spcPts val="600"/>
              </a:spcBef>
              <a:buSzTx/>
              <a:buNone/>
              <a:defRPr sz="2800" b="1">
                <a:latin typeface="+mn-lt"/>
                <a:ea typeface="+mn-ea"/>
                <a:cs typeface="+mn-cs"/>
                <a:sym typeface="Calibri"/>
              </a:defRPr>
            </a:pPr>
            <a:r>
              <a:t>Identify Target Users</a:t>
            </a:r>
          </a:p>
          <a:p>
            <a:pPr marL="0" indent="0">
              <a:spcBef>
                <a:spcPts val="600"/>
              </a:spcBef>
              <a:buSzTx/>
              <a:buNone/>
              <a:defRPr sz="2800">
                <a:latin typeface="+mn-lt"/>
                <a:ea typeface="+mn-ea"/>
                <a:cs typeface="+mn-cs"/>
                <a:sym typeface="Calibri"/>
              </a:defRPr>
            </a:pPr>
            <a:r>
              <a:t> Focus on different user groups who regularly engage with digital media:</a:t>
            </a:r>
          </a:p>
        </p:txBody>
      </p:sp>
      <p:sp>
        <p:nvSpPr>
          <p:cNvPr id="11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379376" y="6245225"/>
            <a:ext cx="203025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3</a:t>
            </a:fld>
            <a:endParaRPr/>
          </a:p>
        </p:txBody>
      </p:sp>
      <p:grpSp>
        <p:nvGrpSpPr>
          <p:cNvPr id="119" name="Rectangle 4"/>
          <p:cNvGrpSpPr/>
          <p:nvPr/>
        </p:nvGrpSpPr>
        <p:grpSpPr>
          <a:xfrm>
            <a:off x="367665" y="2658745"/>
            <a:ext cx="11754485" cy="3357881"/>
            <a:chOff x="0" y="0"/>
            <a:chExt cx="11754484" cy="3357879"/>
          </a:xfrm>
        </p:grpSpPr>
        <p:sp>
          <p:nvSpPr>
            <p:cNvPr id="117" name="Rectangle"/>
            <p:cNvSpPr/>
            <p:nvPr/>
          </p:nvSpPr>
          <p:spPr>
            <a:xfrm>
              <a:off x="0" y="0"/>
              <a:ext cx="11754485" cy="3357880"/>
            </a:xfrm>
            <a:prstGeom prst="rect">
              <a:avLst/>
            </a:prstGeom>
            <a:solidFill>
              <a:schemeClr val="accent3">
                <a:lumOff val="44000"/>
              </a:schemeClr>
            </a:solidFill>
            <a:ln w="12700" cap="flat">
              <a:solidFill>
                <a:schemeClr val="accent6"/>
              </a:solidFill>
              <a:prstDash val="solid"/>
              <a:miter lim="8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l">
                <a:lnSpc>
                  <a:spcPct val="100000"/>
                </a:lnSpc>
                <a:defRPr sz="2400"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18" name="User Type                     Age Group                   Media Use Context…"/>
            <p:cNvSpPr txBox="1"/>
            <p:nvPr/>
          </p:nvSpPr>
          <p:spPr>
            <a:xfrm>
              <a:off x="52070" y="374140"/>
              <a:ext cx="11650345" cy="2609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>
                <a:defRPr sz="2800" b="1">
                  <a:latin typeface="Arial"/>
                  <a:ea typeface="Arial"/>
                  <a:cs typeface="Arial"/>
                  <a:sym typeface="Arial"/>
                </a:defRPr>
              </a:pPr>
              <a:r>
                <a:t>   </a:t>
              </a:r>
              <a:r>
                <a:rPr sz="2400"/>
                <a:t>  </a:t>
              </a:r>
              <a:r>
                <a:rPr sz="2400">
                  <a:latin typeface="+mn-lt"/>
                  <a:ea typeface="+mn-ea"/>
                  <a:cs typeface="+mn-cs"/>
                  <a:sym typeface="Calibri"/>
                </a:rPr>
                <a:t>  User Type                     Age Group                   Media Use Context</a:t>
              </a:r>
            </a:p>
            <a:p>
              <a:pPr>
                <a:defRPr sz="2400">
                  <a:latin typeface="+mn-lt"/>
                  <a:ea typeface="+mn-ea"/>
                  <a:cs typeface="+mn-cs"/>
                  <a:sym typeface="Calibri"/>
                </a:defRPr>
              </a:pPr>
              <a:r>
                <a:t>High school students              13-18                   Social media, News Apps</a:t>
              </a:r>
            </a:p>
            <a:p>
              <a:pPr>
                <a:defRPr sz="2400">
                  <a:latin typeface="+mn-lt"/>
                  <a:ea typeface="+mn-ea"/>
                  <a:cs typeface="+mn-cs"/>
                  <a:sym typeface="Calibri"/>
                </a:defRPr>
              </a:pPr>
              <a:r>
                <a:t>College students                      18-24             Research,Online Forums, Reddit</a:t>
              </a:r>
            </a:p>
            <a:p>
              <a:pPr>
                <a:defRPr sz="2400">
                  <a:latin typeface="+mn-lt"/>
                  <a:ea typeface="+mn-ea"/>
                  <a:cs typeface="+mn-cs"/>
                  <a:sym typeface="Calibri"/>
                </a:defRPr>
              </a:pPr>
              <a:r>
                <a:t>Adults(General Public)              25+           Facebook,WhatsApp,News Websites</a:t>
              </a:r>
            </a:p>
            <a:p>
              <a:pPr>
                <a:defRPr sz="2400">
                  <a:latin typeface="+mn-lt"/>
                  <a:ea typeface="+mn-ea"/>
                  <a:cs typeface="+mn-cs"/>
                  <a:sym typeface="Calibri"/>
                </a:defRPr>
              </a:pPr>
              <a:r>
                <a:t>Teachers/Educators               All ages                   Teaching Media Literacy</a:t>
              </a:r>
            </a:p>
          </p:txBody>
        </p:sp>
      </p:grp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itle 1"/>
          <p:cNvSpPr txBox="1">
            <a:spLocks noGrp="1"/>
          </p:cNvSpPr>
          <p:nvPr>
            <p:ph type="title"/>
          </p:nvPr>
        </p:nvSpPr>
        <p:spPr>
          <a:xfrm>
            <a:off x="838200" y="365124"/>
            <a:ext cx="10515600" cy="522383"/>
          </a:xfrm>
          <a:prstGeom prst="rect">
            <a:avLst/>
          </a:prstGeom>
        </p:spPr>
        <p:txBody>
          <a:bodyPr/>
          <a:lstStyle/>
          <a:p>
            <a:pPr>
              <a:defRPr sz="2400" b="1">
                <a:solidFill>
                  <a:srgbClr val="C0000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EMPATHISE </a:t>
            </a:r>
            <a:r>
              <a:rPr>
                <a:solidFill>
                  <a:srgbClr val="0070C0"/>
                </a:solidFill>
              </a:rPr>
              <a:t>(Continued..)</a:t>
            </a:r>
          </a:p>
        </p:txBody>
      </p:sp>
      <p:sp>
        <p:nvSpPr>
          <p:cNvPr id="122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398584" y="1107187"/>
            <a:ext cx="11418279" cy="5249163"/>
          </a:xfrm>
          <a:prstGeom prst="rect">
            <a:avLst/>
          </a:prstGeom>
        </p:spPr>
        <p:txBody>
          <a:bodyPr/>
          <a:lstStyle/>
          <a:p>
            <a:pPr marL="0" indent="0" defTabSz="868680">
              <a:spcBef>
                <a:spcPts val="500"/>
              </a:spcBef>
              <a:buSzTx/>
              <a:buNone/>
              <a:defRPr sz="2185" b="1">
                <a:solidFill>
                  <a:srgbClr val="C0000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Interview</a:t>
            </a:r>
          </a:p>
          <a:p>
            <a:pPr marL="0" indent="0" defTabSz="868680">
              <a:lnSpc>
                <a:spcPct val="110000"/>
              </a:lnSpc>
              <a:spcBef>
                <a:spcPts val="500"/>
              </a:spcBef>
              <a:buSzTx/>
              <a:buNone/>
              <a:defRPr sz="2185">
                <a:latin typeface="+mn-lt"/>
                <a:ea typeface="+mn-ea"/>
                <a:cs typeface="+mn-cs"/>
                <a:sym typeface="Calibri"/>
              </a:defRPr>
            </a:pPr>
            <a:r>
              <a:t>Sample Questions:</a:t>
            </a:r>
          </a:p>
          <a:p>
            <a:pPr marL="325754" indent="-325754" defTabSz="868680">
              <a:spcBef>
                <a:spcPts val="500"/>
              </a:spcBef>
              <a:defRPr sz="2185" b="1">
                <a:latin typeface="+mn-lt"/>
                <a:ea typeface="+mn-ea"/>
                <a:cs typeface="+mn-cs"/>
                <a:sym typeface="Calibri"/>
              </a:defRPr>
            </a:pPr>
            <a:r>
              <a:t>Have you ever believed or shared a news article that turned out to be false ?</a:t>
            </a:r>
          </a:p>
          <a:p>
            <a:pPr marL="0" indent="0" defTabSz="868680">
              <a:spcBef>
                <a:spcPts val="500"/>
              </a:spcBef>
              <a:buSzTx/>
              <a:buNone/>
              <a:defRPr sz="2185">
                <a:latin typeface="+mn-lt"/>
                <a:ea typeface="+mn-ea"/>
                <a:cs typeface="+mn-cs"/>
                <a:sym typeface="Calibri"/>
              </a:defRPr>
            </a:pPr>
            <a:r>
              <a:t>       Yes, once I shared a shocking news post on WhatsApp without checking it’s source. Later I found it was fake.</a:t>
            </a:r>
          </a:p>
          <a:p>
            <a:pPr marL="325754" indent="-325754" defTabSz="868680">
              <a:spcBef>
                <a:spcPts val="500"/>
              </a:spcBef>
              <a:defRPr sz="2185" b="1">
                <a:latin typeface="+mn-lt"/>
                <a:ea typeface="+mn-ea"/>
                <a:cs typeface="+mn-cs"/>
                <a:sym typeface="Calibri"/>
              </a:defRPr>
            </a:pPr>
            <a:r>
              <a:t>How do you usually verify the information you read online ?</a:t>
            </a:r>
          </a:p>
          <a:p>
            <a:pPr marL="0" indent="0" defTabSz="868680">
              <a:spcBef>
                <a:spcPts val="500"/>
              </a:spcBef>
              <a:buSzTx/>
              <a:buNone/>
              <a:defRPr sz="2185">
                <a:latin typeface="+mn-lt"/>
                <a:ea typeface="+mn-ea"/>
                <a:cs typeface="+mn-cs"/>
                <a:sym typeface="Calibri"/>
              </a:defRPr>
            </a:pPr>
            <a:r>
              <a:t>       I usually Google the headline or check it on websites like Alt News or PIB Fact Check – but only if it sounds suspicious.</a:t>
            </a:r>
          </a:p>
          <a:p>
            <a:pPr marL="325754" indent="-325754" defTabSz="868680">
              <a:spcBef>
                <a:spcPts val="500"/>
              </a:spcBef>
              <a:defRPr sz="2185" b="1">
                <a:latin typeface="+mn-lt"/>
                <a:ea typeface="+mn-ea"/>
                <a:cs typeface="+mn-cs"/>
                <a:sym typeface="Calibri"/>
              </a:defRPr>
            </a:pPr>
            <a:r>
              <a:t>Do you feel confident in your ability to recognize fake news ?</a:t>
            </a:r>
          </a:p>
          <a:p>
            <a:pPr marL="0" indent="0" defTabSz="868680">
              <a:spcBef>
                <a:spcPts val="500"/>
              </a:spcBef>
              <a:buSzTx/>
              <a:buNone/>
              <a:defRPr sz="2185">
                <a:latin typeface="+mn-lt"/>
                <a:ea typeface="+mn-ea"/>
                <a:cs typeface="+mn-cs"/>
                <a:sym typeface="Calibri"/>
              </a:defRPr>
            </a:pPr>
            <a:r>
              <a:t>       Not Really. Sometimes I can tell, but many posts look very real and confusing.</a:t>
            </a:r>
          </a:p>
          <a:p>
            <a:pPr marL="325754" indent="-325754" defTabSz="868680">
              <a:spcBef>
                <a:spcPts val="500"/>
              </a:spcBef>
              <a:defRPr sz="2185" b="1">
                <a:latin typeface="+mn-lt"/>
                <a:ea typeface="+mn-ea"/>
                <a:cs typeface="+mn-cs"/>
                <a:sym typeface="Calibri"/>
              </a:defRPr>
            </a:pPr>
            <a:r>
              <a:t>What platforms do you mostly use news for ?</a:t>
            </a:r>
          </a:p>
          <a:p>
            <a:pPr marL="0" indent="0" defTabSz="868680">
              <a:spcBef>
                <a:spcPts val="500"/>
              </a:spcBef>
              <a:buSzTx/>
              <a:buNone/>
              <a:defRPr sz="2185">
                <a:latin typeface="+mn-lt"/>
                <a:ea typeface="+mn-ea"/>
                <a:cs typeface="+mn-cs"/>
                <a:sym typeface="Calibri"/>
              </a:defRPr>
            </a:pPr>
            <a:r>
              <a:t>       I use Instagram and YouTube shorts for quick updates, and WhatsApp forwards        for local news.</a:t>
            </a:r>
          </a:p>
        </p:txBody>
      </p:sp>
      <p:sp>
        <p:nvSpPr>
          <p:cNvPr id="123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379376" y="6245225"/>
            <a:ext cx="203025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4</a:t>
            </a:fld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838199" y="1120774"/>
            <a:ext cx="11028047" cy="5327017"/>
          </a:xfrm>
          <a:prstGeom prst="rect">
            <a:avLst/>
          </a:prstGeom>
        </p:spPr>
        <p:txBody>
          <a:bodyPr/>
          <a:lstStyle/>
          <a:p>
            <a:pPr marL="0" indent="0" algn="just">
              <a:lnSpc>
                <a:spcPct val="90000"/>
              </a:lnSpc>
              <a:spcBef>
                <a:spcPts val="600"/>
              </a:spcBef>
              <a:buSzTx/>
              <a:buNone/>
              <a:defRPr sz="2600" b="1">
                <a:solidFill>
                  <a:srgbClr val="C0000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Literature Survey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  <a:defRPr sz="2600">
                <a:latin typeface="+mn-lt"/>
                <a:ea typeface="+mn-ea"/>
                <a:cs typeface="+mn-cs"/>
                <a:sym typeface="Calibri"/>
              </a:defRPr>
            </a:pPr>
            <a:r>
              <a:t>Over 60% of young users rely on social media as their primary news source (Pew Research,2020)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  <a:defRPr sz="2600">
                <a:latin typeface="+mn-lt"/>
                <a:ea typeface="+mn-ea"/>
                <a:cs typeface="+mn-cs"/>
                <a:sym typeface="Calibri"/>
              </a:defRPr>
            </a:pPr>
            <a:r>
              <a:t>Fake news spreads 6 times faster than true news (MIT study by, Vosoughi et al.,2018)</a:t>
            </a:r>
          </a:p>
          <a:p>
            <a:pPr algn="just">
              <a:lnSpc>
                <a:spcPct val="90000"/>
              </a:lnSpc>
              <a:spcBef>
                <a:spcPts val="600"/>
              </a:spcBef>
              <a:defRPr sz="2600">
                <a:latin typeface="+mn-lt"/>
                <a:ea typeface="+mn-ea"/>
                <a:cs typeface="+mn-cs"/>
                <a:sym typeface="Calibri"/>
              </a:defRPr>
            </a:pPr>
            <a:r>
              <a:t>Most students lack fact-checking habits or media literacy training.</a:t>
            </a:r>
          </a:p>
          <a:p>
            <a:pPr marL="0" indent="0" algn="just">
              <a:lnSpc>
                <a:spcPct val="144000"/>
              </a:lnSpc>
              <a:spcBef>
                <a:spcPts val="600"/>
              </a:spcBef>
              <a:buSzTx/>
              <a:buNone/>
              <a:defRPr sz="2600" b="1">
                <a:latin typeface="+mn-lt"/>
                <a:ea typeface="+mn-ea"/>
                <a:cs typeface="+mn-cs"/>
                <a:sym typeface="Calibri"/>
              </a:defRPr>
            </a:pPr>
            <a:r>
              <a:t>References:</a:t>
            </a:r>
          </a:p>
          <a:p>
            <a:pPr marL="514350" indent="-514350" algn="just">
              <a:lnSpc>
                <a:spcPct val="90000"/>
              </a:lnSpc>
              <a:spcBef>
                <a:spcPts val="600"/>
              </a:spcBef>
              <a:buAutoNum type="arabicPeriod"/>
              <a:defRPr sz="2600">
                <a:latin typeface="+mn-lt"/>
                <a:ea typeface="+mn-ea"/>
                <a:cs typeface="+mn-cs"/>
                <a:sym typeface="Calibri"/>
              </a:defRPr>
            </a:pPr>
            <a:r>
              <a:t>Google News Initiative India Training Network</a:t>
            </a:r>
          </a:p>
          <a:p>
            <a:pPr marL="514350" indent="-514350" algn="just">
              <a:lnSpc>
                <a:spcPct val="90000"/>
              </a:lnSpc>
              <a:spcBef>
                <a:spcPts val="600"/>
              </a:spcBef>
              <a:buAutoNum type="arabicPeriod"/>
              <a:defRPr sz="2600">
                <a:latin typeface="+mn-lt"/>
                <a:ea typeface="+mn-ea"/>
                <a:cs typeface="+mn-cs"/>
                <a:sym typeface="Calibri"/>
              </a:defRPr>
            </a:pPr>
            <a:r>
              <a:t>UNESCO – Media and Information Literacy (MIL) Workshops</a:t>
            </a:r>
          </a:p>
          <a:p>
            <a:pPr marL="514350" indent="-514350" algn="just">
              <a:lnSpc>
                <a:spcPct val="90000"/>
              </a:lnSpc>
              <a:spcBef>
                <a:spcPts val="600"/>
              </a:spcBef>
              <a:buAutoNum type="arabicPeriod"/>
              <a:defRPr sz="2600">
                <a:latin typeface="+mn-lt"/>
                <a:ea typeface="+mn-ea"/>
                <a:cs typeface="+mn-cs"/>
                <a:sym typeface="Calibri"/>
              </a:defRPr>
            </a:pPr>
            <a:r>
              <a:t>PIB Fact Check &amp; MyGov India Workshop</a:t>
            </a:r>
          </a:p>
          <a:p>
            <a:pPr marL="514350" indent="-514350" algn="just">
              <a:lnSpc>
                <a:spcPct val="90000"/>
              </a:lnSpc>
              <a:spcBef>
                <a:spcPts val="600"/>
              </a:spcBef>
              <a:buAutoNum type="arabicPeriod"/>
              <a:defRPr sz="2600">
                <a:latin typeface="+mn-lt"/>
                <a:ea typeface="+mn-ea"/>
                <a:cs typeface="+mn-cs"/>
                <a:sym typeface="Calibri"/>
              </a:defRPr>
            </a:pPr>
            <a:r>
              <a:t>MediaWise (by Poynter Institute, USA)</a:t>
            </a:r>
          </a:p>
        </p:txBody>
      </p:sp>
      <p:sp>
        <p:nvSpPr>
          <p:cNvPr id="126" name="Slide Number Placeholder 3"/>
          <p:cNvSpPr txBox="1">
            <a:spLocks noGrp="1"/>
          </p:cNvSpPr>
          <p:nvPr>
            <p:ph type="sldNum" sz="quarter" idx="2"/>
          </p:nvPr>
        </p:nvSpPr>
        <p:spPr>
          <a:xfrm>
            <a:off x="11379376" y="6245225"/>
            <a:ext cx="203025" cy="2888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5</a:t>
            </a:fld>
            <a:endParaRPr/>
          </a:p>
        </p:txBody>
      </p:sp>
      <p:sp>
        <p:nvSpPr>
          <p:cNvPr id="127" name="Title 1"/>
          <p:cNvSpPr txBox="1">
            <a:spLocks noGrp="1"/>
          </p:cNvSpPr>
          <p:nvPr>
            <p:ph type="title"/>
          </p:nvPr>
        </p:nvSpPr>
        <p:spPr>
          <a:xfrm>
            <a:off x="838200" y="365124"/>
            <a:ext cx="10515600" cy="522383"/>
          </a:xfrm>
          <a:prstGeom prst="rect">
            <a:avLst/>
          </a:prstGeom>
        </p:spPr>
        <p:txBody>
          <a:bodyPr/>
          <a:lstStyle/>
          <a:p>
            <a:pPr>
              <a:defRPr sz="2400" b="1">
                <a:solidFill>
                  <a:srgbClr val="C00000"/>
                </a:solidFill>
                <a:latin typeface="+mn-lt"/>
                <a:ea typeface="+mn-ea"/>
                <a:cs typeface="+mn-cs"/>
                <a:sym typeface="Calibri"/>
              </a:defRPr>
            </a:pPr>
            <a:r>
              <a:t>EMPATHISE </a:t>
            </a:r>
            <a:r>
              <a:rPr>
                <a:solidFill>
                  <a:srgbClr val="0070C0"/>
                </a:solidFill>
              </a:rPr>
              <a:t>(Continued..)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Gear Drives">
  <a:themeElements>
    <a:clrScheme name="Gear Drive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F5F5F"/>
      </a:accent1>
      <a:accent2>
        <a:srgbClr val="969696"/>
      </a:accent2>
      <a:accent3>
        <a:srgbClr val="8F8F8F"/>
      </a:accent3>
      <a:accent4>
        <a:srgbClr val="707070"/>
      </a:accent4>
      <a:accent5>
        <a:srgbClr val="B6B6B6"/>
      </a:accent5>
      <a:accent6>
        <a:srgbClr val="878787"/>
      </a:accent6>
      <a:hlink>
        <a:srgbClr val="0000FF"/>
      </a:hlink>
      <a:folHlink>
        <a:srgbClr val="FF00FF"/>
      </a:folHlink>
    </a:clrScheme>
    <a:fontScheme name="Gear Drives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Gear Driv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914400" rtl="0" fontAlgn="auto" latinLnBrk="0" hangingPunct="0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Gear Drives">
  <a:themeElements>
    <a:clrScheme name="Gear Drives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F5F5F"/>
      </a:accent1>
      <a:accent2>
        <a:srgbClr val="969696"/>
      </a:accent2>
      <a:accent3>
        <a:srgbClr val="8F8F8F"/>
      </a:accent3>
      <a:accent4>
        <a:srgbClr val="707070"/>
      </a:accent4>
      <a:accent5>
        <a:srgbClr val="B6B6B6"/>
      </a:accent5>
      <a:accent6>
        <a:srgbClr val="878787"/>
      </a:accent6>
      <a:hlink>
        <a:srgbClr val="0000FF"/>
      </a:hlink>
      <a:folHlink>
        <a:srgbClr val="FF00FF"/>
      </a:folHlink>
    </a:clrScheme>
    <a:fontScheme name="Gear Drives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Gear Drive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Off val="44000"/>
          </a:schemeClr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rial"/>
            <a:ea typeface="Arial"/>
            <a:cs typeface="Arial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ctr" defTabSz="914400" rtl="0" fontAlgn="auto" latinLnBrk="0" hangingPunct="0">
          <a:lnSpc>
            <a:spcPct val="15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Times New Roman"/>
            <a:ea typeface="Times New Roman"/>
            <a:cs typeface="Times New Roman"/>
            <a:sym typeface="Times New Roman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364</Words>
  <Application>Microsoft Office PowerPoint</Application>
  <PresentationFormat>Widescreen</PresentationFormat>
  <Paragraphs>61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Times New Roman</vt:lpstr>
      <vt:lpstr>Gear Drives</vt:lpstr>
      <vt:lpstr>PowerPoint Presentation</vt:lpstr>
      <vt:lpstr>CONTENTS</vt:lpstr>
      <vt:lpstr>EMPATHISE</vt:lpstr>
      <vt:lpstr>EMPATHISE (Continued..)</vt:lpstr>
      <vt:lpstr>EMPATHISE (Continued..)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Bhuvan N</cp:lastModifiedBy>
  <cp:revision>1</cp:revision>
  <dcterms:modified xsi:type="dcterms:W3CDTF">2025-12-23T13:36:31Z</dcterms:modified>
</cp:coreProperties>
</file>